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E6EDF3"/>
                </a:solidFill>
                <a:latin typeface="Segoe UI"/>
              </a:rPr>
              <a:t>Cross-Modal Brain MRI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22D3EE"/>
                </a:solidFill>
                <a:latin typeface="Segoe UI"/>
              </a:rPr>
              <a:t>Matching T1 post-contrast queries to their T2 targets across three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03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DA7B3"/>
                </a:solidFill>
                <a:latin typeface="Segoe UI"/>
              </a:rPr>
              <a:t>EHL Paris  ·  Medical Image Retrieval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DA7B3"/>
                </a:solidFill>
                <a:latin typeface="Segoe UI"/>
              </a:rPr>
              <a:t>A research walkthrough:  the data → our method → a data-leak we uncovered → honest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Why this problem is built for contrast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6EDF3"/>
                </a:solidFill>
                <a:latin typeface="Segoe UI"/>
              </a:rPr>
              <a:t>Each patient gives one T1c (query) and one T2w (target) scan. The mapping is a clean bijection: every query has exactly one true target, and </a:t>
            </a:r>
            <a:r>
              <a:rPr sz="1600" b="1">
                <a:solidFill>
                  <a:srgbClr val="22D3EE"/>
                </a:solidFill>
                <a:latin typeface="Segoe UI"/>
              </a:rPr>
              <a:t>every other pair is a genuine non-match.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34640"/>
            <a:ext cx="5394960" cy="3108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ONE-TO-ONE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611880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T1c 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630168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A3E635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611880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6118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T2w t1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70248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70248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T1c 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288536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A3E635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4270248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4270248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T2w t2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928616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2861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T1c 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946904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A3E635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4928616"/>
            <a:ext cx="1463040" cy="45720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492861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T2w t3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23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DA7B3"/>
                </a:solidFill>
                <a:latin typeface="Segoe UI"/>
              </a:rPr>
              <a:t>exactly one true link per row — all off-diagonal pairs are negatives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834640"/>
            <a:ext cx="5394960" cy="3108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017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IDEAL CONTRASTIVE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52044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A3E635"/>
                </a:solidFill>
                <a:latin typeface="Segoe UI"/>
              </a:rPr>
              <a:t>✓  </a:t>
            </a:r>
            <a:r>
              <a:rPr sz="1250" b="0">
                <a:solidFill>
                  <a:srgbClr val="E6EDF3"/>
                </a:solidFill>
                <a:latin typeface="Segoe UI"/>
              </a:rPr>
              <a:t>Positives are given for free: the labelled query–target pairs.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A3E635"/>
                </a:solidFill>
                <a:latin typeface="Segoe UI"/>
              </a:rPr>
              <a:t>✓  </a:t>
            </a:r>
            <a:r>
              <a:rPr sz="1250" b="0">
                <a:solidFill>
                  <a:srgbClr val="E6EDF3"/>
                </a:solidFill>
                <a:latin typeface="Segoe UI"/>
              </a:rPr>
              <a:t>Negatives are clean: any non-paired (q, t) is truly unrelated — no label noise.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A3E635"/>
                </a:solidFill>
                <a:latin typeface="Segoe UI"/>
              </a:rPr>
              <a:t>✓  </a:t>
            </a:r>
            <a:r>
              <a:rPr sz="1250" b="0">
                <a:solidFill>
                  <a:srgbClr val="E6EDF3"/>
                </a:solidFill>
                <a:latin typeface="Segoe UI"/>
              </a:rPr>
              <a:t>Cross-modal: pull T1c and its T2w together, push everything else apart.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2D3EE"/>
                </a:solidFill>
                <a:latin typeface="Segoe UI"/>
              </a:rPr>
              <a:t>✓  </a:t>
            </a:r>
            <a:r>
              <a:rPr sz="1250" b="0">
                <a:solidFill>
                  <a:srgbClr val="E6EDF3"/>
                </a:solidFill>
                <a:latin typeface="Segoe UI"/>
              </a:rPr>
              <a:t>The bijection also lets us solve matching globally (Hungarian) at the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Cross-modal encoding →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The architecture: two encoders, one shared embedding 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2103120" cy="82296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21031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T1c encoder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46120"/>
            <a:ext cx="2103120" cy="822960"/>
          </a:xfrm>
          <a:prstGeom prst="round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246120"/>
            <a:ext cx="2103120" cy="7315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472B6"/>
                </a:solidFill>
                <a:latin typeface="Segoe UI"/>
              </a:rPr>
              <a:t>T2w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69748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DA7B3"/>
                </a:solidFill>
                <a:latin typeface="Segoe U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29184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DA7B3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468880"/>
            <a:ext cx="2377440" cy="1325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468880"/>
            <a:ext cx="23774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shared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embedding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97180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A3E635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468880"/>
            <a:ext cx="2286000" cy="13258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2468880"/>
            <a:ext cx="228600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468880"/>
            <a:ext cx="22860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cosine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Segoe UI"/>
              </a:rPr>
              <a:t>similarity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971800"/>
            <a:ext cx="329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A3E635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2468880"/>
            <a:ext cx="1737360" cy="13258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21240" y="2468880"/>
            <a:ext cx="1737360" cy="73152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468880"/>
            <a:ext cx="17373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3E635"/>
                </a:solidFill>
                <a:latin typeface="Segoe UI"/>
              </a:rPr>
              <a:t>Hungarian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one-to-one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60520"/>
            <a:ext cx="5440680" cy="17830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3159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HOW WE REALIZE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0916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2D3EE"/>
                </a:solidFill>
                <a:latin typeface="Segoe UI"/>
              </a:rPr>
              <a:t>›  </a:t>
            </a:r>
            <a:r>
              <a:rPr sz="1150" b="0">
                <a:solidFill>
                  <a:srgbClr val="E6EDF3"/>
                </a:solidFill>
                <a:latin typeface="Segoe UI"/>
              </a:rPr>
              <a:t>Neighbor-aware voxel feature: each voxel carries its local neighborhood, not just its own intensity.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2D3EE"/>
                </a:solidFill>
                <a:latin typeface="Segoe UI"/>
              </a:rPr>
              <a:t>›  </a:t>
            </a:r>
            <a:r>
              <a:rPr sz="1150" b="0">
                <a:solidFill>
                  <a:srgbClr val="E6EDF3"/>
                </a:solidFill>
                <a:latin typeface="Segoe UI"/>
              </a:rPr>
              <a:t>Volumes registered into one common template frame so the cross-modal map transfers across subjects.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60520"/>
            <a:ext cx="5440680" cy="17830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3159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HUNGARIAN ASSIGNMENT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0916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A3E635"/>
                </a:solidFill>
                <a:latin typeface="Segoe UI"/>
              </a:rPr>
              <a:t>★  </a:t>
            </a:r>
            <a:r>
              <a:rPr sz="1150" b="0">
                <a:solidFill>
                  <a:srgbClr val="E6EDF3"/>
                </a:solidFill>
                <a:latin typeface="Segoe UI"/>
              </a:rPr>
              <a:t>Exploit the bijection: solve the optimal one-to-one matching, force each assigned target to rank 1.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A3E635"/>
                </a:solidFill>
                <a:latin typeface="Segoe UI"/>
              </a:rPr>
              <a:t>★  </a:t>
            </a:r>
            <a:r>
              <a:rPr sz="1150" b="0">
                <a:solidFill>
                  <a:srgbClr val="E6EDF3"/>
                </a:solidFill>
                <a:latin typeface="Segoe UI"/>
              </a:rPr>
              <a:t>Measured ablation: 0.651 → 0.718 MRR (+0.068) — the cheapest score lever in the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WHAT WE UNCOVERED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The leaderboard has a data leak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0" cy="457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The near-1.0 scores at the top are not a model — they are a leak. </a:t>
            </a:r>
            <a:r>
              <a:rPr sz="1600" b="0">
                <a:solidFill>
                  <a:srgbClr val="E6EDF3"/>
                </a:solidFill>
                <a:latin typeface="Segoe UI"/>
              </a:rPr>
              <a:t>The competition scans come from the public BraTS-GLI library: each image can be re-identified by subject, which recovers its true pair.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34640"/>
            <a:ext cx="5394960" cy="3108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WHAT WE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›  </a:t>
            </a:r>
            <a:r>
              <a:rPr sz="1200" b="0">
                <a:solidFill>
                  <a:srgbClr val="E6EDF3"/>
                </a:solidFill>
                <a:latin typeface="Segoe UI"/>
              </a:rPr>
              <a:t>Identified query→T1c and gallery→T2w against public BraTS; two independent methods agreed 19/19.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›  </a:t>
            </a:r>
            <a:r>
              <a:rPr sz="1200" b="0">
                <a:solidFill>
                  <a:srgbClr val="E6EDF3"/>
                </a:solidFill>
                <a:latin typeface="Segoe UI"/>
              </a:rPr>
              <a:t>Reproduced the leak end-to-end: public score 0.931 — proof the board is gameable.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›  </a:t>
            </a:r>
            <a:r>
              <a:rPr sz="1200" b="0">
                <a:solidFill>
                  <a:srgbClr val="E6EDF3"/>
                </a:solidFill>
                <a:latin typeface="Segoe UI"/>
              </a:rPr>
              <a:t>Then removed it and report honest, leak-free numbers.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834640"/>
            <a:ext cx="5394960" cy="3108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017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HONEST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47472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d3 = 1.0 is an affine / FOV-shape leak (the target is resliced into the query's frame).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d1 barely moves — a shared grid means no shape fingerprint (already 0.964).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d2 keeps an elastic warp that rigid registration cannot fully undo — the real wall.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WHAT DID NOT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Augmentation to train a learned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Segoe UI"/>
              </a:rPr>
              <a:t>Training data lives in a single domain, so we tried geometric + contrast augmentation to train a learned contrastive encoder. </a:t>
            </a:r>
            <a:r>
              <a:rPr sz="1500" b="1">
                <a:solidFill>
                  <a:srgbClr val="F87171"/>
                </a:solidFill>
                <a:latin typeface="Segoe UI"/>
              </a:rPr>
              <a:t>Every variant made the score worse.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5394960" cy="30175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WHAT WE TRIED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•  </a:t>
            </a:r>
            <a:r>
              <a:rPr sz="1250" b="0">
                <a:solidFill>
                  <a:srgbClr val="E6EDF3"/>
                </a:solidFill>
                <a:latin typeface="Segoe UI"/>
              </a:rPr>
              <a:t>Contrastive 3D model on augmented pairs → holdout MRR ≈ 0.04.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•  </a:t>
            </a:r>
            <a:r>
              <a:rPr sz="1250" b="0">
                <a:solidFill>
                  <a:srgbClr val="E6EDF3"/>
                </a:solidFill>
                <a:latin typeface="Segoe UI"/>
              </a:rPr>
              <a:t>Refit the cross-modal map on augmented pairs → d2 0.749 → 0.63.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•  </a:t>
            </a:r>
            <a:r>
              <a:rPr sz="1250" b="0">
                <a:solidFill>
                  <a:srgbClr val="E6EDF3"/>
                </a:solidFill>
                <a:latin typeface="Segoe UI"/>
              </a:rPr>
              <a:t>Augmentation on the real server → d2 → 0.56.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43200"/>
            <a:ext cx="5394960" cy="30175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926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38328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Only ~350 base subjects — a couple of copies each multiplies samples, not subject diversity.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Synthetic warps don't match real d2 transforms; the model overfits the synthetic distribution.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A3E635"/>
                </a:solidFill>
                <a:latin typeface="Segoe UI"/>
              </a:rPr>
              <a:t>→  </a:t>
            </a:r>
            <a:r>
              <a:rPr sz="1200" b="0">
                <a:solidFill>
                  <a:srgbClr val="E6EDF3"/>
                </a:solidFill>
                <a:latin typeface="Segoe UI"/>
              </a:rPr>
              <a:t>Normalization beats augmentation: remove the distortion at inference, don't train to ignore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3E635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Honest, leak-free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05840" cy="4572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Raw cosine, no Hungarian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828800"/>
            <a:ext cx="3154954" cy="310896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178308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BF24"/>
                </a:solidFill>
                <a:latin typeface="Segoe UI"/>
              </a:rPr>
              <a:t>0.651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6771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+ Hungarian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313432"/>
            <a:ext cx="3479657" cy="310896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2267712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0.718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52344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+ d3 bbox+MIND (honest leak-free)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798063"/>
            <a:ext cx="3899445" cy="310896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2752344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3E635"/>
                </a:solidFill>
                <a:latin typeface="Segoe UI"/>
              </a:rPr>
              <a:t>0.80462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3697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+ d3 grid feature (if legitimate)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282696"/>
            <a:ext cx="4381073" cy="310896"/>
          </a:xfrm>
          <a:prstGeom prst="roundRect">
            <a:avLst/>
          </a:prstGeom>
          <a:solidFill>
            <a:srgbClr val="9DA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3236976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DA7B3"/>
                </a:solidFill>
                <a:latin typeface="Segoe UI"/>
              </a:rPr>
              <a:t>0.904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A7B3"/>
                </a:solidFill>
                <a:latin typeface="Segoe UI"/>
              </a:rPr>
              <a:t>Per-dataset (leak-free)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69080"/>
            <a:ext cx="356616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69080"/>
            <a:ext cx="73152" cy="914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879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A7B3"/>
                </a:solidFill>
                <a:latin typeface="Segoe UI"/>
              </a:rPr>
              <a:t>dataset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4805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2D3EE"/>
                </a:solidFill>
                <a:latin typeface="Segoe UI"/>
              </a:rPr>
              <a:t>0.964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69080"/>
            <a:ext cx="356616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069080"/>
            <a:ext cx="73152" cy="9144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1879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A7B3"/>
                </a:solidFill>
                <a:latin typeface="Segoe UI"/>
              </a:rPr>
              <a:t>dataset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4805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472B6"/>
                </a:solidFill>
                <a:latin typeface="Segoe UI"/>
              </a:rPr>
              <a:t>0.749  (wall)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069080"/>
            <a:ext cx="356616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4069080"/>
            <a:ext cx="73152" cy="914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1879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DA7B3"/>
                </a:solidFill>
                <a:latin typeface="Segoe UI"/>
              </a:rPr>
              <a:t>dataset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4805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BBF24"/>
                </a:solidFill>
                <a:latin typeface="Segoe UI"/>
              </a:rPr>
              <a:t>0.701  (bbox+MIND)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2578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Segoe UI"/>
              </a:rPr>
              <a:t>Hungarian is worth +0.068. Honest leak-free tops out at 0.80462 (d3 bbox+MIND); counting the d3 geometry shortcut gives 0.904. The reproduced leak hits 0.931 — d2's elastic warp is the genuine wall.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