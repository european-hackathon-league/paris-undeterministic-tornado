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E6EDF3"/>
                </a:solidFill>
                <a:latin typeface="Segoe UI"/>
              </a:rPr>
              <a:t>Cross-Modal Brain MRI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22D3EE"/>
                </a:solidFill>
                <a:latin typeface="Segoe UI"/>
              </a:rPr>
              <a:t>Matching T1 post-contrast queries to their T2 targets across three datasets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60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DA7B3"/>
                </a:solidFill>
                <a:latin typeface="Segoe UI"/>
              </a:rPr>
              <a:t>EHL Paris  ·  Medical Image Retrieval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DA7B3"/>
                </a:solidFill>
                <a:latin typeface="Segoe UI"/>
              </a:rPr>
              <a:t>A research walkthrough:  the data → our method → a data-leak we uncovered → honest metrics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6EDF3"/>
                </a:solidFill>
                <a:latin typeface="Segoe UI"/>
              </a:rPr>
              <a:t>Why this problem is built for contrast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05840" cy="45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6EDF3"/>
                </a:solidFill>
                <a:latin typeface="Segoe UI"/>
              </a:rPr>
              <a:t>Each patient gives one T1c (query) and one T2w (target) scan. The mapping is a clean bijection: every query has exactly one true target, and </a:t>
            </a:r>
            <a:r>
              <a:rPr sz="1600" b="1">
                <a:solidFill>
                  <a:srgbClr val="22D3EE"/>
                </a:solidFill>
                <a:latin typeface="Segoe UI"/>
              </a:rPr>
              <a:t>every other pair is a genuine non-match.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834640"/>
            <a:ext cx="5394960" cy="310896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ONE-TO-ONE 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611880"/>
            <a:ext cx="1463040" cy="45720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T1c 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3630168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A3E635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611880"/>
            <a:ext cx="1463040" cy="45720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361188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472B6"/>
                </a:solidFill>
                <a:latin typeface="Segoe UI"/>
              </a:rPr>
              <a:t>T2w t1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270248"/>
            <a:ext cx="1463040" cy="45720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70248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T1c 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288536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A3E635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4270248"/>
            <a:ext cx="1463040" cy="45720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4270248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472B6"/>
                </a:solidFill>
                <a:latin typeface="Segoe UI"/>
              </a:rPr>
              <a:t>T2w t2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928616"/>
            <a:ext cx="1463040" cy="45720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2861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T1c 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946904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A3E635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4928616"/>
            <a:ext cx="1463040" cy="45720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2861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472B6"/>
                </a:solidFill>
                <a:latin typeface="Segoe UI"/>
              </a:rPr>
              <a:t>T2w t3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623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DA7B3"/>
                </a:solidFill>
                <a:latin typeface="Segoe UI"/>
              </a:rPr>
              <a:t>exactly one true link per row — all off-diagonal pairs are negatives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2834640"/>
            <a:ext cx="5394960" cy="310896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3017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IDEAL CONTRASTIVE 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52044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A3E635"/>
                </a:solidFill>
                <a:latin typeface="Segoe UI"/>
              </a:rPr>
              <a:t>✓  </a:t>
            </a:r>
            <a:r>
              <a:rPr sz="1250" b="0">
                <a:solidFill>
                  <a:srgbClr val="E6EDF3"/>
                </a:solidFill>
                <a:latin typeface="Segoe UI"/>
              </a:rPr>
              <a:t>Positives are given for free: the labelled query–target pairs.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A3E635"/>
                </a:solidFill>
                <a:latin typeface="Segoe UI"/>
              </a:rPr>
              <a:t>✓  </a:t>
            </a:r>
            <a:r>
              <a:rPr sz="1250" b="0">
                <a:solidFill>
                  <a:srgbClr val="E6EDF3"/>
                </a:solidFill>
                <a:latin typeface="Segoe UI"/>
              </a:rPr>
              <a:t>Negatives are clean: any non-paired (q, t) is truly unrelated — no label noise.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A3E635"/>
                </a:solidFill>
                <a:latin typeface="Segoe UI"/>
              </a:rPr>
              <a:t>✓  </a:t>
            </a:r>
            <a:r>
              <a:rPr sz="1250" b="0">
                <a:solidFill>
                  <a:srgbClr val="E6EDF3"/>
                </a:solidFill>
                <a:latin typeface="Segoe UI"/>
              </a:rPr>
              <a:t>Cross-modal: pull T1c and its T2w together, push everything else apart.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22D3EE"/>
                </a:solidFill>
                <a:latin typeface="Segoe UI"/>
              </a:rPr>
              <a:t>✓  </a:t>
            </a:r>
            <a:r>
              <a:rPr sz="1250" b="0">
                <a:solidFill>
                  <a:srgbClr val="E6EDF3"/>
                </a:solidFill>
                <a:latin typeface="Segoe UI"/>
              </a:rPr>
              <a:t>The bijection also lets us solve matching globally (Hungarian)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78BFA"/>
                </a:solidFill>
                <a:latin typeface="Segoe UI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6EDF3"/>
                </a:solidFill>
                <a:latin typeface="Segoe UI"/>
              </a:rPr>
              <a:t>Cross-modal encoding → assignment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05840" cy="45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A78BFA"/>
                </a:solidFill>
                <a:latin typeface="Segoe UI"/>
              </a:rPr>
              <a:t>The architecture: two encoders, one shared embedding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2103120" cy="82296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210312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2103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T1c encoder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46120"/>
            <a:ext cx="2103120" cy="822960"/>
          </a:xfrm>
          <a:prstGeom prst="roundRect">
            <a:avLst/>
          </a:prstGeom>
          <a:solidFill>
            <a:srgbClr val="1C2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246120"/>
            <a:ext cx="2103120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103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472B6"/>
                </a:solidFill>
                <a:latin typeface="Segoe UI"/>
              </a:rPr>
              <a:t>T2w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697480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9DA7B3"/>
                </a:solidFill>
                <a:latin typeface="Segoe U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291840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9DA7B3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2468880"/>
            <a:ext cx="2377440" cy="13258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468880"/>
            <a:ext cx="23774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A78BFA"/>
                </a:solidFill>
                <a:latin typeface="Segoe UI"/>
              </a:rPr>
              <a:t>shared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Segoe UI"/>
              </a:rPr>
              <a:t>embedding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A3E635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2468880"/>
            <a:ext cx="2286000" cy="132588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0" y="2468880"/>
            <a:ext cx="2286000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468880"/>
            <a:ext cx="22860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BF24"/>
                </a:solidFill>
                <a:latin typeface="Segoe UI"/>
              </a:rPr>
              <a:t>cosine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Segoe UI"/>
              </a:rPr>
              <a:t>similarity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971800"/>
            <a:ext cx="329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A3E635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21240" y="2468880"/>
            <a:ext cx="1737360" cy="132588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21240" y="2468880"/>
            <a:ext cx="1737360" cy="73152"/>
          </a:xfrm>
          <a:prstGeom prst="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2468880"/>
            <a:ext cx="1737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3E635"/>
                </a:solidFill>
                <a:latin typeface="Segoe UI"/>
              </a:rPr>
              <a:t>Hungarian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one-to-one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160520"/>
            <a:ext cx="5440680" cy="178308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3159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HOW WE REALIZE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091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22D3EE"/>
                </a:solidFill>
                <a:latin typeface="Segoe UI"/>
              </a:rPr>
              <a:t>›  </a:t>
            </a:r>
            <a:r>
              <a:rPr sz="1150" b="0">
                <a:solidFill>
                  <a:srgbClr val="E6EDF3"/>
                </a:solidFill>
                <a:latin typeface="Segoe UI"/>
              </a:rPr>
              <a:t>Neighbor-aware voxel feature: each voxel carries its local neighborhood, not just its own intensity.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22D3EE"/>
                </a:solidFill>
                <a:latin typeface="Segoe UI"/>
              </a:rPr>
              <a:t>›  </a:t>
            </a:r>
            <a:r>
              <a:rPr sz="1150" b="0">
                <a:solidFill>
                  <a:srgbClr val="E6EDF3"/>
                </a:solidFill>
                <a:latin typeface="Segoe UI"/>
              </a:rPr>
              <a:t>Volumes registered into one common template frame so the cross-modal map transfers across subjects.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60520"/>
            <a:ext cx="5440680" cy="178308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3159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HUNGARIAN ASSIGNMENT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7091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A3E635"/>
                </a:solidFill>
                <a:latin typeface="Segoe UI"/>
              </a:rPr>
              <a:t>★  </a:t>
            </a:r>
            <a:r>
              <a:rPr sz="1150" b="0">
                <a:solidFill>
                  <a:srgbClr val="E6EDF3"/>
                </a:solidFill>
                <a:latin typeface="Segoe UI"/>
              </a:rPr>
              <a:t>Exploit the bijection: solve the optimal one-to-one matching, force each assigned target to rank 1.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A3E635"/>
                </a:solidFill>
                <a:latin typeface="Segoe UI"/>
              </a:rPr>
              <a:t>★  </a:t>
            </a:r>
            <a:r>
              <a:rPr sz="1150" b="0">
                <a:solidFill>
                  <a:srgbClr val="E6EDF3"/>
                </a:solidFill>
                <a:latin typeface="Segoe UI"/>
              </a:rPr>
              <a:t>Measured ablation: 0.651 → 0.718 MRR (+0.068) — the cheapest score lever in the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WHAT WE UNCOVERED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6EDF3"/>
                </a:solidFill>
                <a:latin typeface="Segoe UI"/>
              </a:rPr>
              <a:t>The leaderboard has a data leak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05840" cy="457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7171"/>
                </a:solidFill>
                <a:latin typeface="Segoe UI"/>
              </a:rPr>
              <a:t>The near-1.0 scores at the top are not a model — they are a leak. </a:t>
            </a:r>
            <a:r>
              <a:rPr sz="1600" b="0">
                <a:solidFill>
                  <a:srgbClr val="E6EDF3"/>
                </a:solidFill>
                <a:latin typeface="Segoe UI"/>
              </a:rPr>
              <a:t>The competition scans come from the public BraTS-GLI library: each image can be re-identified by subject, which recovers its true pair.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834640"/>
            <a:ext cx="5394960" cy="310896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WHAT WE DID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4937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›  </a:t>
            </a:r>
            <a:r>
              <a:rPr sz="1200" b="0">
                <a:solidFill>
                  <a:srgbClr val="E6EDF3"/>
                </a:solidFill>
                <a:latin typeface="Segoe UI"/>
              </a:rPr>
              <a:t>Identified query→T1c and gallery→T2w against public BraTS; two independent methods agreed 19/19.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›  </a:t>
            </a:r>
            <a:r>
              <a:rPr sz="1200" b="0">
                <a:solidFill>
                  <a:srgbClr val="E6EDF3"/>
                </a:solidFill>
                <a:latin typeface="Segoe UI"/>
              </a:rPr>
              <a:t>Reproduced the leak end-to-end: public score 0.931 — proof the board is gameable.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›  </a:t>
            </a:r>
            <a:r>
              <a:rPr sz="1200" b="0">
                <a:solidFill>
                  <a:srgbClr val="E6EDF3"/>
                </a:solidFill>
                <a:latin typeface="Segoe UI"/>
              </a:rPr>
              <a:t>Then removed it and report honest, leak-free numbers.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834640"/>
            <a:ext cx="5394960" cy="310896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017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HONEST BOUNDARIES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74720"/>
            <a:ext cx="4937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→  </a:t>
            </a:r>
            <a:r>
              <a:rPr sz="1200" b="0">
                <a:solidFill>
                  <a:srgbClr val="E6EDF3"/>
                </a:solidFill>
                <a:latin typeface="Segoe UI"/>
              </a:rPr>
              <a:t>d3 = 1.0 is an affine / FOV-shape leak (the target is resliced into the query's frame).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→  </a:t>
            </a:r>
            <a:r>
              <a:rPr sz="1200" b="0">
                <a:solidFill>
                  <a:srgbClr val="E6EDF3"/>
                </a:solidFill>
                <a:latin typeface="Segoe UI"/>
              </a:rPr>
              <a:t>d1 barely moves — a shared grid means no shape fingerprint (already 0.964).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→  </a:t>
            </a:r>
            <a:r>
              <a:rPr sz="1200" b="0">
                <a:solidFill>
                  <a:srgbClr val="E6EDF3"/>
                </a:solidFill>
                <a:latin typeface="Segoe UI"/>
              </a:rPr>
              <a:t>d2 keeps an elastic warp that rigid registration cannot fully undo — the real wall.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WHAT DID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6EDF3"/>
                </a:solidFill>
                <a:latin typeface="Segoe UI"/>
              </a:rPr>
              <a:t>Augmentation to train a learned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05840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Training data lives in a single domain, so we tried geometric + contrast augmentation to train a learned contrastive encoder. </a:t>
            </a:r>
            <a:r>
              <a:rPr sz="1500" b="1">
                <a:solidFill>
                  <a:srgbClr val="F87171"/>
                </a:solidFill>
                <a:latin typeface="Segoe UI"/>
              </a:rPr>
              <a:t>Every variant made the score worse.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5394960" cy="301752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WHAT WE TRIED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83280"/>
            <a:ext cx="4937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F87171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Contrastive 3D model on augmented pairs → holdout MRR ≈ 0.04.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F87171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Refit the cross-modal map on augmented pairs → d2 0.749 → 0.63.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F87171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Augmentation on the real server → d2 → 0.56.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743200"/>
            <a:ext cx="5394960" cy="301752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926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WHY (OUR READING)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383280"/>
            <a:ext cx="4937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→  </a:t>
            </a:r>
            <a:r>
              <a:rPr sz="1200" b="0">
                <a:solidFill>
                  <a:srgbClr val="E6EDF3"/>
                </a:solidFill>
                <a:latin typeface="Segoe UI"/>
              </a:rPr>
              <a:t>Only ~350 base subjects — a couple of copies each multiplies samples, not subject diversity.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→  </a:t>
            </a:r>
            <a:r>
              <a:rPr sz="1200" b="0">
                <a:solidFill>
                  <a:srgbClr val="E6EDF3"/>
                </a:solidFill>
                <a:latin typeface="Segoe UI"/>
              </a:rPr>
              <a:t>Synthetic warps don't match real d2 transforms; the model overfits the synthetic distribution.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3E635"/>
                </a:solidFill>
                <a:latin typeface="Segoe UI"/>
              </a:rPr>
              <a:t>→  </a:t>
            </a:r>
            <a:r>
              <a:rPr sz="1200" b="0">
                <a:solidFill>
                  <a:srgbClr val="E6EDF3"/>
                </a:solidFill>
                <a:latin typeface="Segoe UI"/>
              </a:rPr>
              <a:t>Normalization beats augmentation: remove the distortion at inference, don't train to ignore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3E635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6EDF3"/>
                </a:solidFill>
                <a:latin typeface="Segoe UI"/>
              </a:rPr>
              <a:t>Honest, leak-free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005840" cy="45720"/>
          </a:xfrm>
          <a:prstGeom prst="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Raw cosine, no Hungarian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920239"/>
            <a:ext cx="3154954" cy="310896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187451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BBF24"/>
                </a:solidFill>
                <a:latin typeface="Segoe UI"/>
              </a:rPr>
              <a:t>0.651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41448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+ Hungarian assignment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487168"/>
            <a:ext cx="3479657" cy="310896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0.718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+ d3 grid feature (if legitimate)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3054096"/>
            <a:ext cx="4381073" cy="310896"/>
          </a:xfrm>
          <a:prstGeom prst="round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3008376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3E635"/>
                </a:solidFill>
                <a:latin typeface="Segoe UI"/>
              </a:rPr>
              <a:t>0.904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657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A7B3"/>
                </a:solidFill>
                <a:latin typeface="Segoe UI"/>
              </a:rPr>
              <a:t>Per-dataset (leak-free)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069080"/>
            <a:ext cx="3566160" cy="91440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4069080"/>
            <a:ext cx="73152" cy="914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879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A7B3"/>
                </a:solidFill>
                <a:latin typeface="Segoe UI"/>
              </a:rPr>
              <a:t>dataset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05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2D3EE"/>
                </a:solidFill>
                <a:latin typeface="Segoe UI"/>
              </a:rPr>
              <a:t>0.964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069080"/>
            <a:ext cx="3566160" cy="91440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4069080"/>
            <a:ext cx="73152" cy="9144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1879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A7B3"/>
                </a:solidFill>
                <a:latin typeface="Segoe UI"/>
              </a:rPr>
              <a:t>dataset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4805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472B6"/>
                </a:solidFill>
                <a:latin typeface="Segoe UI"/>
              </a:rPr>
              <a:t>0.749  (wall)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4069080"/>
            <a:ext cx="3566160" cy="91440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80" y="4069080"/>
            <a:ext cx="73152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1879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A7B3"/>
                </a:solidFill>
                <a:latin typeface="Segoe UI"/>
              </a:rPr>
              <a:t>dataset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44805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BBF24"/>
                </a:solidFill>
                <a:latin typeface="Segoe UI"/>
              </a:rPr>
              <a:t>0.442  (bbox)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2578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Hungarian is worth +0.068. The reproduced leak hits 0.931 — but our honest pipeline tops out at 0.718 (strict) / 0.904 (d3-grid), and d2's elastic warp is the genuine remaining wall.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